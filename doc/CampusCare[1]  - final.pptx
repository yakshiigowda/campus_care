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62" r:id="rId2"/>
    <p:sldId id="257" r:id="rId3"/>
    <p:sldId id="259" r:id="rId4"/>
    <p:sldId id="260" r:id="rId5"/>
    <p:sldId id="256" r:id="rId6"/>
    <p:sldId id="258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878" autoAdjust="0"/>
    <p:restoredTop sz="94660"/>
  </p:normalViewPr>
  <p:slideViewPr>
    <p:cSldViewPr snapToGrid="0">
      <p:cViewPr>
        <p:scale>
          <a:sx n="75" d="100"/>
          <a:sy n="75" d="100"/>
        </p:scale>
        <p:origin x="245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D2B7FE-EDB1-4F82-BF9F-11B31188A66D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358BE1-E445-4A4F-869D-8B237423D5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037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358BE1-E445-4A4F-869D-8B237423D51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787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B1000-0869-43E1-A99E-27317366B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505512"/>
            <a:ext cx="10444899" cy="1554760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087409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58701-EA23-9C4F-9BA3-93F2E6EF8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206" y="111651"/>
            <a:ext cx="10353761" cy="1326321"/>
          </a:xfrm>
        </p:spPr>
        <p:txBody>
          <a:bodyPr/>
          <a:lstStyle/>
          <a:p>
            <a:r>
              <a:rPr lang="en-IN" dirty="0"/>
              <a:t>Problem 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83141-F0C0-DE7D-2DCB-960BB6CA1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206" y="1254357"/>
            <a:ext cx="10706706" cy="4653351"/>
          </a:xfrm>
        </p:spPr>
        <p:txBody>
          <a:bodyPr>
            <a:noAutofit/>
          </a:bodyPr>
          <a:lstStyle/>
          <a:p>
            <a:r>
              <a:rPr lang="en-US" sz="2800" dirty="0"/>
              <a:t>In the college campus, the doctor faces challenges in managing the health records of students and staff.</a:t>
            </a:r>
            <a:br>
              <a:rPr lang="en-US" sz="2800" dirty="0"/>
            </a:br>
            <a:r>
              <a:rPr lang="en-US" sz="2800" dirty="0"/>
              <a:t>All medical information, such as check-up details, prescriptions, and doctor notes, are maintained manually, leading to data loss, duplication, and difficulty in retrieving past records.</a:t>
            </a:r>
            <a:br>
              <a:rPr lang="en-US" sz="2800" dirty="0"/>
            </a:br>
            <a:r>
              <a:rPr lang="en-US" sz="2800" dirty="0"/>
              <a:t>The absence of a digital system makes it hard for the campus doctor to efficiently track patient history and provide timely healthcare support.</a:t>
            </a: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C4EE50-72AC-53C9-A833-67ED253BD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9516" y="111651"/>
            <a:ext cx="616043" cy="95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517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23F15-180F-0B59-F737-65505C68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-397177"/>
            <a:ext cx="10353761" cy="1326321"/>
          </a:xfrm>
        </p:spPr>
        <p:txBody>
          <a:bodyPr/>
          <a:lstStyle/>
          <a:p>
            <a:r>
              <a:rPr lang="en-IN" dirty="0"/>
              <a:t>ER-DIAGRAM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63C682-1A9A-FEA1-2FDA-91424B667B97}"/>
              </a:ext>
            </a:extLst>
          </p:cNvPr>
          <p:cNvSpPr/>
          <p:nvPr/>
        </p:nvSpPr>
        <p:spPr>
          <a:xfrm>
            <a:off x="2887980" y="3665220"/>
            <a:ext cx="1821180" cy="72390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Heath record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4EE989-4C89-9E1D-98EA-A2656A984CCC}"/>
              </a:ext>
            </a:extLst>
          </p:cNvPr>
          <p:cNvSpPr/>
          <p:nvPr/>
        </p:nvSpPr>
        <p:spPr>
          <a:xfrm>
            <a:off x="7092328" y="3654273"/>
            <a:ext cx="1546860" cy="80772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>
                <a:solidFill>
                  <a:schemeClr val="bg1"/>
                </a:solidFill>
              </a:rPr>
              <a:t>Doctor_note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209032-2BED-B762-7A31-3D02837D5D82}"/>
              </a:ext>
            </a:extLst>
          </p:cNvPr>
          <p:cNvSpPr/>
          <p:nvPr/>
        </p:nvSpPr>
        <p:spPr>
          <a:xfrm>
            <a:off x="3027248" y="1577077"/>
            <a:ext cx="1630680" cy="6629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Student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BFB4FE-4FCF-55A4-8921-2300C03CE9D6}"/>
              </a:ext>
            </a:extLst>
          </p:cNvPr>
          <p:cNvSpPr/>
          <p:nvPr/>
        </p:nvSpPr>
        <p:spPr>
          <a:xfrm>
            <a:off x="6633212" y="1886447"/>
            <a:ext cx="1699260" cy="5486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Teacher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733EC91-D582-C218-F475-3B54158AED77}"/>
              </a:ext>
            </a:extLst>
          </p:cNvPr>
          <p:cNvSpPr/>
          <p:nvPr/>
        </p:nvSpPr>
        <p:spPr>
          <a:xfrm rot="19082705">
            <a:off x="2342919" y="948194"/>
            <a:ext cx="1234440" cy="50680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year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0AC6365-E63B-E8C2-63EA-CBE3D095B2F2}"/>
              </a:ext>
            </a:extLst>
          </p:cNvPr>
          <p:cNvSpPr/>
          <p:nvPr/>
        </p:nvSpPr>
        <p:spPr>
          <a:xfrm rot="17889333">
            <a:off x="7135898" y="735505"/>
            <a:ext cx="1345497" cy="641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u="sng" dirty="0">
                <a:solidFill>
                  <a:schemeClr val="bg1"/>
                </a:solidFill>
              </a:rPr>
              <a:t>ISN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9DDE844-BB02-FE03-8645-17B47B5B3E7B}"/>
              </a:ext>
            </a:extLst>
          </p:cNvPr>
          <p:cNvSpPr/>
          <p:nvPr/>
        </p:nvSpPr>
        <p:spPr>
          <a:xfrm>
            <a:off x="8834224" y="1857596"/>
            <a:ext cx="1384196" cy="54864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Dept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0ABC8F4-E204-AFDB-DF3A-432B4B6B4588}"/>
              </a:ext>
            </a:extLst>
          </p:cNvPr>
          <p:cNvSpPr/>
          <p:nvPr/>
        </p:nvSpPr>
        <p:spPr>
          <a:xfrm rot="20298240">
            <a:off x="4789120" y="1093235"/>
            <a:ext cx="1521077" cy="40622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Branch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F02C75C-A90E-2AEA-E58B-DB59AD2E9153}"/>
              </a:ext>
            </a:extLst>
          </p:cNvPr>
          <p:cNvSpPr/>
          <p:nvPr/>
        </p:nvSpPr>
        <p:spPr>
          <a:xfrm rot="19720165">
            <a:off x="8342514" y="961383"/>
            <a:ext cx="1627584" cy="4950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Name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8153B6C-B503-54A9-81F5-E2B9108B200E}"/>
              </a:ext>
            </a:extLst>
          </p:cNvPr>
          <p:cNvSpPr/>
          <p:nvPr/>
        </p:nvSpPr>
        <p:spPr>
          <a:xfrm rot="19368752">
            <a:off x="3604146" y="544097"/>
            <a:ext cx="1073765" cy="57032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u="sng" dirty="0">
                <a:solidFill>
                  <a:schemeClr val="bg1"/>
                </a:solidFill>
              </a:rPr>
              <a:t>USN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1AE6599-BA40-A657-5B9A-32FD5B380EC1}"/>
              </a:ext>
            </a:extLst>
          </p:cNvPr>
          <p:cNvSpPr/>
          <p:nvPr/>
        </p:nvSpPr>
        <p:spPr>
          <a:xfrm rot="19825190">
            <a:off x="4293857" y="810887"/>
            <a:ext cx="1225256" cy="44725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name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5CF2962-2210-0DB9-CF04-F1B356A3ABB4}"/>
              </a:ext>
            </a:extLst>
          </p:cNvPr>
          <p:cNvSpPr/>
          <p:nvPr/>
        </p:nvSpPr>
        <p:spPr>
          <a:xfrm rot="19872309">
            <a:off x="-86922" y="4394401"/>
            <a:ext cx="2547478" cy="81928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>
                <a:solidFill>
                  <a:schemeClr val="bg1"/>
                </a:solidFill>
              </a:rPr>
              <a:t>Date_recorded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05EF4ED-C488-3AB5-407D-A71D5EA505AF}"/>
              </a:ext>
            </a:extLst>
          </p:cNvPr>
          <p:cNvSpPr/>
          <p:nvPr/>
        </p:nvSpPr>
        <p:spPr>
          <a:xfrm rot="17166517">
            <a:off x="2418215" y="5386706"/>
            <a:ext cx="1689737" cy="76003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>
                <a:solidFill>
                  <a:schemeClr val="bg1"/>
                </a:solidFill>
              </a:rPr>
              <a:t>Conditon</a:t>
            </a:r>
            <a:r>
              <a:rPr lang="en-IN" dirty="0">
                <a:solidFill>
                  <a:schemeClr val="bg1"/>
                </a:solidFill>
              </a:rPr>
              <a:t> details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1D7E41D-CF34-68E7-2B90-60FB2D1A51B3}"/>
              </a:ext>
            </a:extLst>
          </p:cNvPr>
          <p:cNvSpPr/>
          <p:nvPr/>
        </p:nvSpPr>
        <p:spPr>
          <a:xfrm rot="18910386">
            <a:off x="1198539" y="5089060"/>
            <a:ext cx="1969071" cy="8232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u="sng" dirty="0" err="1">
                <a:solidFill>
                  <a:schemeClr val="bg1"/>
                </a:solidFill>
              </a:rPr>
              <a:t>Record_id</a:t>
            </a:r>
            <a:endParaRPr lang="en-IN" u="sng" dirty="0">
              <a:solidFill>
                <a:schemeClr val="bg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5793160-BEF4-CDAF-2978-29B28A8EB771}"/>
              </a:ext>
            </a:extLst>
          </p:cNvPr>
          <p:cNvSpPr/>
          <p:nvPr/>
        </p:nvSpPr>
        <p:spPr>
          <a:xfrm rot="16200000">
            <a:off x="7004207" y="5552446"/>
            <a:ext cx="1685709" cy="5771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>
                <a:solidFill>
                  <a:schemeClr val="bg1"/>
                </a:solidFill>
              </a:rPr>
              <a:t>Note_text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9E363A4-7D5E-4AB3-6F12-C944CD6B3AF7}"/>
              </a:ext>
            </a:extLst>
          </p:cNvPr>
          <p:cNvSpPr/>
          <p:nvPr/>
        </p:nvSpPr>
        <p:spPr>
          <a:xfrm rot="17069026">
            <a:off x="6089330" y="5275860"/>
            <a:ext cx="1549858" cy="7856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u="sng" dirty="0" err="1">
                <a:solidFill>
                  <a:schemeClr val="bg1"/>
                </a:solidFill>
              </a:rPr>
              <a:t>Note_id</a:t>
            </a:r>
            <a:endParaRPr lang="en-IN" u="sng" dirty="0">
              <a:solidFill>
                <a:schemeClr val="bg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03658D0-9780-208A-A3B3-9BAB6420E798}"/>
              </a:ext>
            </a:extLst>
          </p:cNvPr>
          <p:cNvSpPr/>
          <p:nvPr/>
        </p:nvSpPr>
        <p:spPr>
          <a:xfrm rot="4503715">
            <a:off x="3367549" y="5382514"/>
            <a:ext cx="1910580" cy="81999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>
                <a:solidFill>
                  <a:schemeClr val="bg1"/>
                </a:solidFill>
              </a:rPr>
              <a:t>Patient_type</a:t>
            </a:r>
            <a:r>
              <a:rPr lang="en-IN" dirty="0">
                <a:solidFill>
                  <a:schemeClr val="bg1"/>
                </a:solidFill>
              </a:rPr>
              <a:t>(Student/Teacher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68A844C-B802-74EA-5AD0-A9432D9852E9}"/>
              </a:ext>
            </a:extLst>
          </p:cNvPr>
          <p:cNvSpPr/>
          <p:nvPr/>
        </p:nvSpPr>
        <p:spPr>
          <a:xfrm rot="4052936">
            <a:off x="8110448" y="5462248"/>
            <a:ext cx="2125210" cy="59098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>
                <a:solidFill>
                  <a:schemeClr val="bg1"/>
                </a:solidFill>
              </a:rPr>
              <a:t>Time_stamp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0" name="Diamond 29">
            <a:extLst>
              <a:ext uri="{FF2B5EF4-FFF2-40B4-BE49-F238E27FC236}">
                <a16:creationId xmlns:a16="http://schemas.microsoft.com/office/drawing/2014/main" id="{9107E3DE-E8FA-370C-FFA9-8A211F4CD222}"/>
              </a:ext>
            </a:extLst>
          </p:cNvPr>
          <p:cNvSpPr/>
          <p:nvPr/>
        </p:nvSpPr>
        <p:spPr>
          <a:xfrm rot="19887737">
            <a:off x="5128403" y="2401124"/>
            <a:ext cx="1094739" cy="914400"/>
          </a:xfrm>
          <a:prstGeom prst="diamond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has</a:t>
            </a:r>
          </a:p>
        </p:txBody>
      </p:sp>
      <p:sp>
        <p:nvSpPr>
          <p:cNvPr id="31" name="Diamond 30">
            <a:extLst>
              <a:ext uri="{FF2B5EF4-FFF2-40B4-BE49-F238E27FC236}">
                <a16:creationId xmlns:a16="http://schemas.microsoft.com/office/drawing/2014/main" id="{08526C09-C0A1-9295-8179-A3E23E64D3BD}"/>
              </a:ext>
            </a:extLst>
          </p:cNvPr>
          <p:cNvSpPr/>
          <p:nvPr/>
        </p:nvSpPr>
        <p:spPr>
          <a:xfrm>
            <a:off x="5127305" y="3583211"/>
            <a:ext cx="1398575" cy="939764"/>
          </a:xfrm>
          <a:prstGeom prst="diamond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have</a:t>
            </a:r>
          </a:p>
        </p:txBody>
      </p:sp>
      <p:sp>
        <p:nvSpPr>
          <p:cNvPr id="32" name="Diamond 31">
            <a:extLst>
              <a:ext uri="{FF2B5EF4-FFF2-40B4-BE49-F238E27FC236}">
                <a16:creationId xmlns:a16="http://schemas.microsoft.com/office/drawing/2014/main" id="{B0D2153A-88E3-493E-63EC-E484D5CB2E98}"/>
              </a:ext>
            </a:extLst>
          </p:cNvPr>
          <p:cNvSpPr/>
          <p:nvPr/>
        </p:nvSpPr>
        <p:spPr>
          <a:xfrm>
            <a:off x="3164148" y="2380869"/>
            <a:ext cx="1102459" cy="914400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has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51EA112-2C5D-C6F8-8BE0-A655C260E063}"/>
              </a:ext>
            </a:extLst>
          </p:cNvPr>
          <p:cNvCxnSpPr>
            <a:cxnSpLocks/>
            <a:stCxn id="30" idx="3"/>
          </p:cNvCxnSpPr>
          <p:nvPr/>
        </p:nvCxnSpPr>
        <p:spPr>
          <a:xfrm flipV="1">
            <a:off x="6156638" y="2379937"/>
            <a:ext cx="434334" cy="2168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0FE7F90-6CD9-0603-0886-23BC2062F342}"/>
              </a:ext>
            </a:extLst>
          </p:cNvPr>
          <p:cNvCxnSpPr>
            <a:cxnSpLocks/>
            <a:stCxn id="11" idx="4"/>
          </p:cNvCxnSpPr>
          <p:nvPr/>
        </p:nvCxnSpPr>
        <p:spPr>
          <a:xfrm>
            <a:off x="3129549" y="1390041"/>
            <a:ext cx="170321" cy="2618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D1F829B-F490-A558-BA38-44F2209EAE6C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3609074" y="1153765"/>
            <a:ext cx="104241" cy="4728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7478882-9F27-C875-3DDD-F4D06AA1F905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4081618" y="1336933"/>
            <a:ext cx="292085" cy="3040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6996522-74EF-DDA3-BB4D-DC714CF4FB07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4660814" y="1577505"/>
            <a:ext cx="182184" cy="1106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1832950-F92E-58A7-1C1A-8621FE9507C1}"/>
              </a:ext>
            </a:extLst>
          </p:cNvPr>
          <p:cNvCxnSpPr>
            <a:cxnSpLocks/>
          </p:cNvCxnSpPr>
          <p:nvPr/>
        </p:nvCxnSpPr>
        <p:spPr>
          <a:xfrm>
            <a:off x="3713315" y="2196105"/>
            <a:ext cx="0" cy="1847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9757B23-99B1-6381-6612-8AB66DAAA733}"/>
              </a:ext>
            </a:extLst>
          </p:cNvPr>
          <p:cNvCxnSpPr>
            <a:cxnSpLocks/>
          </p:cNvCxnSpPr>
          <p:nvPr/>
        </p:nvCxnSpPr>
        <p:spPr>
          <a:xfrm flipH="1">
            <a:off x="3714868" y="3277132"/>
            <a:ext cx="2450" cy="4155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A301B85C-4E0F-5993-BC23-6FFFBECE7489}"/>
              </a:ext>
            </a:extLst>
          </p:cNvPr>
          <p:cNvSpPr/>
          <p:nvPr/>
        </p:nvSpPr>
        <p:spPr>
          <a:xfrm rot="21296018">
            <a:off x="1092383" y="3090150"/>
            <a:ext cx="1344128" cy="80434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ISN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5C25E87B-15D3-FAE1-FFFE-FAACAF56EA7D}"/>
              </a:ext>
            </a:extLst>
          </p:cNvPr>
          <p:cNvSpPr/>
          <p:nvPr/>
        </p:nvSpPr>
        <p:spPr>
          <a:xfrm rot="2566970">
            <a:off x="4706631" y="4614871"/>
            <a:ext cx="1267624" cy="914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USN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3B0E94AC-C581-7E22-59C6-45530F8CF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00928">
            <a:off x="9290427" y="3459692"/>
            <a:ext cx="1536325" cy="1530229"/>
          </a:xfrm>
          <a:prstGeom prst="rect">
            <a:avLst/>
          </a:prstGeom>
        </p:spPr>
      </p:pic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7888EE5-4780-ADBA-3C49-B8396C5BFBDF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2331720" y="3492324"/>
            <a:ext cx="556260" cy="5348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7BFA35D7-25A6-79E6-7D4E-2B412372C0B8}"/>
              </a:ext>
            </a:extLst>
          </p:cNvPr>
          <p:cNvCxnSpPr>
            <a:cxnSpLocks/>
            <a:stCxn id="19" idx="6"/>
          </p:cNvCxnSpPr>
          <p:nvPr/>
        </p:nvCxnSpPr>
        <p:spPr>
          <a:xfrm>
            <a:off x="2303058" y="4190513"/>
            <a:ext cx="615893" cy="342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E725375F-773D-2E1F-CC66-E92ED0A0A005}"/>
              </a:ext>
            </a:extLst>
          </p:cNvPr>
          <p:cNvCxnSpPr>
            <a:cxnSpLocks/>
            <a:stCxn id="23" idx="6"/>
          </p:cNvCxnSpPr>
          <p:nvPr/>
        </p:nvCxnSpPr>
        <p:spPr>
          <a:xfrm flipV="1">
            <a:off x="2881346" y="4389121"/>
            <a:ext cx="236262" cy="4175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2E444EDA-A248-75C3-2DC7-6F961E46804C}"/>
              </a:ext>
            </a:extLst>
          </p:cNvPr>
          <p:cNvCxnSpPr>
            <a:stCxn id="22" idx="6"/>
          </p:cNvCxnSpPr>
          <p:nvPr/>
        </p:nvCxnSpPr>
        <p:spPr>
          <a:xfrm flipV="1">
            <a:off x="3497500" y="4381500"/>
            <a:ext cx="91058" cy="5735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41CD4ED-4590-256C-7CE8-74BC272071B9}"/>
              </a:ext>
            </a:extLst>
          </p:cNvPr>
          <p:cNvCxnSpPr>
            <a:cxnSpLocks/>
            <a:stCxn id="26" idx="2"/>
          </p:cNvCxnSpPr>
          <p:nvPr/>
        </p:nvCxnSpPr>
        <p:spPr>
          <a:xfrm flipV="1">
            <a:off x="4076589" y="4381500"/>
            <a:ext cx="5029" cy="4880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06C8E247-F8AE-1474-6F9E-AB4AF4EBB96E}"/>
              </a:ext>
            </a:extLst>
          </p:cNvPr>
          <p:cNvCxnSpPr>
            <a:cxnSpLocks/>
            <a:endCxn id="61" idx="2"/>
          </p:cNvCxnSpPr>
          <p:nvPr/>
        </p:nvCxnSpPr>
        <p:spPr>
          <a:xfrm>
            <a:off x="4657928" y="4381500"/>
            <a:ext cx="217339" cy="2600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62F446A5-2D8A-48B4-845E-098A85810AC9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4709160" y="4027171"/>
            <a:ext cx="442386" cy="233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5BBD06C0-F932-A33B-3B7D-C7F47500AFAD}"/>
              </a:ext>
            </a:extLst>
          </p:cNvPr>
          <p:cNvCxnSpPr>
            <a:cxnSpLocks/>
            <a:stCxn id="31" idx="3"/>
            <a:endCxn id="8" idx="1"/>
          </p:cNvCxnSpPr>
          <p:nvPr/>
        </p:nvCxnSpPr>
        <p:spPr>
          <a:xfrm>
            <a:off x="6525880" y="4053093"/>
            <a:ext cx="566448" cy="5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E53F6FAA-5F0F-2CEE-453D-52D3ABB2049B}"/>
              </a:ext>
            </a:extLst>
          </p:cNvPr>
          <p:cNvCxnSpPr>
            <a:cxnSpLocks/>
            <a:endCxn id="25" idx="6"/>
          </p:cNvCxnSpPr>
          <p:nvPr/>
        </p:nvCxnSpPr>
        <p:spPr>
          <a:xfrm flipH="1">
            <a:off x="7058073" y="4461993"/>
            <a:ext cx="150458" cy="4563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5F5391D2-ED69-78D5-BCBB-5FD6F5C74E9B}"/>
              </a:ext>
            </a:extLst>
          </p:cNvPr>
          <p:cNvCxnSpPr>
            <a:cxnSpLocks/>
            <a:endCxn id="24" idx="6"/>
          </p:cNvCxnSpPr>
          <p:nvPr/>
        </p:nvCxnSpPr>
        <p:spPr>
          <a:xfrm flipH="1">
            <a:off x="7847062" y="4461993"/>
            <a:ext cx="172813" cy="5361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A1FA6F8C-0187-0ED8-EA2D-1CC098A0D07C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8494156" y="4461993"/>
            <a:ext cx="273094" cy="3136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CA082214-557C-5CE8-FAD5-0BEB43525F6A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8639188" y="4058133"/>
            <a:ext cx="463273" cy="103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D4C26EA0-0E31-B1CC-5624-B21AE6218C72}"/>
              </a:ext>
            </a:extLst>
          </p:cNvPr>
          <p:cNvCxnSpPr>
            <a:cxnSpLocks/>
            <a:stCxn id="30" idx="1"/>
          </p:cNvCxnSpPr>
          <p:nvPr/>
        </p:nvCxnSpPr>
        <p:spPr>
          <a:xfrm flipH="1">
            <a:off x="4359916" y="3119823"/>
            <a:ext cx="834991" cy="5341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84C3B2EC-8E4F-CC02-1EE9-6C0F2FF05FF9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7263103" y="1649252"/>
            <a:ext cx="228096" cy="2371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096A5E45-BFFD-DD96-2D12-D47D631C5E18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8121090" y="1632060"/>
            <a:ext cx="340090" cy="2543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78DA7F70-1206-FE78-105C-86258AF636A5}"/>
              </a:ext>
            </a:extLst>
          </p:cNvPr>
          <p:cNvCxnSpPr>
            <a:cxnSpLocks/>
            <a:stCxn id="14" idx="2"/>
            <a:endCxn id="10" idx="3"/>
          </p:cNvCxnSpPr>
          <p:nvPr/>
        </p:nvCxnSpPr>
        <p:spPr>
          <a:xfrm flipH="1">
            <a:off x="8332472" y="2131916"/>
            <a:ext cx="501752" cy="28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E514F3DF-9BF5-149D-8A82-DAD177FA3C67}"/>
              </a:ext>
            </a:extLst>
          </p:cNvPr>
          <p:cNvSpPr txBox="1"/>
          <p:nvPr/>
        </p:nvSpPr>
        <p:spPr>
          <a:xfrm rot="19269821">
            <a:off x="6061762" y="2132271"/>
            <a:ext cx="408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DFDFC16C-BF41-6FE8-34F2-6EC393DFBE4F}"/>
              </a:ext>
            </a:extLst>
          </p:cNvPr>
          <p:cNvSpPr txBox="1"/>
          <p:nvPr/>
        </p:nvSpPr>
        <p:spPr>
          <a:xfrm rot="19374228">
            <a:off x="4539583" y="3031419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N</a:t>
            </a:r>
          </a:p>
        </p:txBody>
      </p:sp>
      <p:pic>
        <p:nvPicPr>
          <p:cNvPr id="119" name="Picture 118">
            <a:extLst>
              <a:ext uri="{FF2B5EF4-FFF2-40B4-BE49-F238E27FC236}">
                <a16:creationId xmlns:a16="http://schemas.microsoft.com/office/drawing/2014/main" id="{2ACF4CD3-222A-803C-6953-DB0DB684A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5389">
            <a:off x="6381058" y="3547361"/>
            <a:ext cx="658425" cy="664522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CA885463-5055-514D-E2E8-8EF8BB0A26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297653">
            <a:off x="4746000" y="3438776"/>
            <a:ext cx="634039" cy="652329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1D07C916-D901-C5A0-02D0-AF8D567366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133752">
            <a:off x="3068259" y="2095544"/>
            <a:ext cx="634039" cy="652329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E66515E4-803B-3CA0-B9BD-9378EA470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308036">
            <a:off x="3261522" y="3114489"/>
            <a:ext cx="658425" cy="664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226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AC06C-3396-AF0C-5939-014FE8FFC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738" y="0"/>
            <a:ext cx="10353761" cy="1326321"/>
          </a:xfrm>
        </p:spPr>
        <p:txBody>
          <a:bodyPr/>
          <a:lstStyle/>
          <a:p>
            <a:r>
              <a:rPr lang="en-IN" dirty="0" err="1"/>
              <a:t>RelationAL</a:t>
            </a:r>
            <a:r>
              <a:rPr lang="en-IN" dirty="0"/>
              <a:t> DATABASE SCHEME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6E233B2-A0B5-9611-1F32-68C6E600A4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6102" y="663160"/>
            <a:ext cx="8106697" cy="6154301"/>
          </a:xfrm>
        </p:spPr>
      </p:pic>
    </p:spTree>
    <p:extLst>
      <p:ext uri="{BB962C8B-B14F-4D97-AF65-F5344CB8AC3E}">
        <p14:creationId xmlns:p14="http://schemas.microsoft.com/office/powerpoint/2010/main" val="3209175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09E0C-0E67-8B06-AD33-B92E666441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4601" y="859406"/>
            <a:ext cx="9001462" cy="2387600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sz="8000" dirty="0" err="1"/>
              <a:t>C</a:t>
            </a:r>
            <a:r>
              <a:rPr lang="en-IN" sz="8000" cap="none" dirty="0" err="1">
                <a:effectLst/>
              </a:rPr>
              <a:t>ampus</a:t>
            </a:r>
            <a:r>
              <a:rPr lang="en-IN" sz="8000" dirty="0" err="1">
                <a:effectLst/>
              </a:rPr>
              <a:t>c</a:t>
            </a:r>
            <a:r>
              <a:rPr lang="en-IN" sz="8000" cap="none" dirty="0" err="1">
                <a:effectLst/>
              </a:rPr>
              <a:t>are</a:t>
            </a:r>
            <a:endParaRPr lang="en-IN" sz="8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A58CA5-2725-9149-55AB-312F92DFEB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269" y="3255862"/>
            <a:ext cx="9001462" cy="1655762"/>
          </a:xfrm>
        </p:spPr>
        <p:txBody>
          <a:bodyPr/>
          <a:lstStyle/>
          <a:p>
            <a:r>
              <a:rPr lang="en-IN" dirty="0"/>
              <a:t>…..College Health Record management System…..</a:t>
            </a:r>
          </a:p>
        </p:txBody>
      </p:sp>
    </p:spTree>
    <p:extLst>
      <p:ext uri="{BB962C8B-B14F-4D97-AF65-F5344CB8AC3E}">
        <p14:creationId xmlns:p14="http://schemas.microsoft.com/office/powerpoint/2010/main" val="3913272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EB444-E06C-F916-0829-9B15F2553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12829" y="-402764"/>
            <a:ext cx="10353761" cy="1326321"/>
          </a:xfrm>
        </p:spPr>
        <p:txBody>
          <a:bodyPr/>
          <a:lstStyle/>
          <a:p>
            <a:r>
              <a:rPr lang="en-IN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System Flowchart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6E220-AE04-2FDA-80EC-7E52BDFB5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E0FEEF3-3DD3-DF9D-C63F-AF08B5E4FEDF}"/>
              </a:ext>
            </a:extLst>
          </p:cNvPr>
          <p:cNvSpPr/>
          <p:nvPr/>
        </p:nvSpPr>
        <p:spPr>
          <a:xfrm>
            <a:off x="2133837" y="540528"/>
            <a:ext cx="1586950" cy="60634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Start System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94E319-0629-ADBA-2075-B15B2C2C2D9D}"/>
              </a:ext>
            </a:extLst>
          </p:cNvPr>
          <p:cNvSpPr/>
          <p:nvPr/>
        </p:nvSpPr>
        <p:spPr>
          <a:xfrm>
            <a:off x="2034070" y="2383566"/>
            <a:ext cx="1771507" cy="6901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Access Doctor Dashboard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98E415-AE73-17D3-5DB1-C10BB380EFC7}"/>
              </a:ext>
            </a:extLst>
          </p:cNvPr>
          <p:cNvSpPr/>
          <p:nvPr/>
        </p:nvSpPr>
        <p:spPr>
          <a:xfrm>
            <a:off x="4447181" y="4823993"/>
            <a:ext cx="1752486" cy="69015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Add Health Record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939F65-688E-59C0-9E73-EAC16D7B87DE}"/>
              </a:ext>
            </a:extLst>
          </p:cNvPr>
          <p:cNvSpPr/>
          <p:nvPr/>
        </p:nvSpPr>
        <p:spPr>
          <a:xfrm>
            <a:off x="216265" y="4850310"/>
            <a:ext cx="1771507" cy="69622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Add New Patient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BE2F83-FBF7-B640-92F4-5838EEA91A96}"/>
              </a:ext>
            </a:extLst>
          </p:cNvPr>
          <p:cNvSpPr/>
          <p:nvPr/>
        </p:nvSpPr>
        <p:spPr>
          <a:xfrm>
            <a:off x="8028358" y="2606039"/>
            <a:ext cx="2741242" cy="73396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Generate Report (Excel / PDF Export)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7B2C78-D7AE-F032-97A3-BE3BB037CF7C}"/>
              </a:ext>
            </a:extLst>
          </p:cNvPr>
          <p:cNvSpPr/>
          <p:nvPr/>
        </p:nvSpPr>
        <p:spPr>
          <a:xfrm>
            <a:off x="2331723" y="4897823"/>
            <a:ext cx="1771507" cy="6901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 Fetch Existing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A3D6B1-2471-5579-4D34-B352B40FB427}"/>
              </a:ext>
            </a:extLst>
          </p:cNvPr>
          <p:cNvSpPr/>
          <p:nvPr/>
        </p:nvSpPr>
        <p:spPr>
          <a:xfrm>
            <a:off x="4596882" y="5758736"/>
            <a:ext cx="1859051" cy="67188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Link with Patient ID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E74024-DA8C-E86E-8ED9-66CA8D34963C}"/>
              </a:ext>
            </a:extLst>
          </p:cNvPr>
          <p:cNvSpPr/>
          <p:nvPr/>
        </p:nvSpPr>
        <p:spPr>
          <a:xfrm>
            <a:off x="175878" y="5740460"/>
            <a:ext cx="1859052" cy="69015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 Save to Database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FA69C4-C772-E919-E579-B63BC8BABA19}"/>
              </a:ext>
            </a:extLst>
          </p:cNvPr>
          <p:cNvSpPr/>
          <p:nvPr/>
        </p:nvSpPr>
        <p:spPr>
          <a:xfrm>
            <a:off x="2408814" y="5809353"/>
            <a:ext cx="1694416" cy="6718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Retrieve from DB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D3ED25-6011-B2F5-D2A9-449CB1D25D91}"/>
              </a:ext>
            </a:extLst>
          </p:cNvPr>
          <p:cNvSpPr/>
          <p:nvPr/>
        </p:nvSpPr>
        <p:spPr>
          <a:xfrm>
            <a:off x="8028358" y="1510908"/>
            <a:ext cx="2741242" cy="81357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View Combined Details (Patient + Notes + Health)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42373DC-E0C7-53BF-8E7C-277245B379D4}"/>
              </a:ext>
            </a:extLst>
          </p:cNvPr>
          <p:cNvSpPr/>
          <p:nvPr/>
        </p:nvSpPr>
        <p:spPr>
          <a:xfrm>
            <a:off x="8781935" y="3633013"/>
            <a:ext cx="1677537" cy="91759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 END SYSTEM </a:t>
            </a:r>
          </a:p>
        </p:txBody>
      </p:sp>
      <p:sp>
        <p:nvSpPr>
          <p:cNvPr id="18" name="Cylinder 17">
            <a:extLst>
              <a:ext uri="{FF2B5EF4-FFF2-40B4-BE49-F238E27FC236}">
                <a16:creationId xmlns:a16="http://schemas.microsoft.com/office/drawing/2014/main" id="{21F7DA8C-777F-EB98-14DF-9E34D7AE04FC}"/>
              </a:ext>
            </a:extLst>
          </p:cNvPr>
          <p:cNvSpPr/>
          <p:nvPr/>
        </p:nvSpPr>
        <p:spPr>
          <a:xfrm>
            <a:off x="2348070" y="3292700"/>
            <a:ext cx="1249924" cy="1101500"/>
          </a:xfrm>
          <a:prstGeom prst="ca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Connect to Database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4C5FC93-B908-B2D5-CAE4-C31D5ACEF09B}"/>
              </a:ext>
            </a:extLst>
          </p:cNvPr>
          <p:cNvSpPr/>
          <p:nvPr/>
        </p:nvSpPr>
        <p:spPr>
          <a:xfrm>
            <a:off x="7940932" y="468291"/>
            <a:ext cx="2828668" cy="7508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Add Doctor Note</a:t>
            </a:r>
          </a:p>
        </p:txBody>
      </p:sp>
      <p:sp>
        <p:nvSpPr>
          <p:cNvPr id="22" name="Flowchart: Decision 21">
            <a:extLst>
              <a:ext uri="{FF2B5EF4-FFF2-40B4-BE49-F238E27FC236}">
                <a16:creationId xmlns:a16="http://schemas.microsoft.com/office/drawing/2014/main" id="{E4B8A45F-E7DD-FAC8-8682-0077B428E275}"/>
              </a:ext>
            </a:extLst>
          </p:cNvPr>
          <p:cNvSpPr/>
          <p:nvPr/>
        </p:nvSpPr>
        <p:spPr>
          <a:xfrm>
            <a:off x="1842864" y="1344255"/>
            <a:ext cx="2153920" cy="806219"/>
          </a:xfrm>
          <a:prstGeom prst="flowChartDecisi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Doctor Login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DCF8813-2009-BF2B-526F-BC5DA22F1163}"/>
              </a:ext>
            </a:extLst>
          </p:cNvPr>
          <p:cNvCxnSpPr>
            <a:cxnSpLocks/>
            <a:stCxn id="4" idx="4"/>
            <a:endCxn id="22" idx="0"/>
          </p:cNvCxnSpPr>
          <p:nvPr/>
        </p:nvCxnSpPr>
        <p:spPr>
          <a:xfrm flipH="1">
            <a:off x="2919824" y="1146877"/>
            <a:ext cx="7488" cy="197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5F8CBF2-824F-394A-ACE4-760489793BC0}"/>
              </a:ext>
            </a:extLst>
          </p:cNvPr>
          <p:cNvCxnSpPr>
            <a:cxnSpLocks/>
            <a:stCxn id="22" idx="2"/>
            <a:endCxn id="5" idx="0"/>
          </p:cNvCxnSpPr>
          <p:nvPr/>
        </p:nvCxnSpPr>
        <p:spPr>
          <a:xfrm>
            <a:off x="2919824" y="2150474"/>
            <a:ext cx="0" cy="233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238CCE7-D95B-8083-62D4-74F69FF32200}"/>
              </a:ext>
            </a:extLst>
          </p:cNvPr>
          <p:cNvSpPr txBox="1"/>
          <p:nvPr/>
        </p:nvSpPr>
        <p:spPr>
          <a:xfrm>
            <a:off x="2934800" y="2067449"/>
            <a:ext cx="62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Yes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EB045F5-CB90-9CD9-A7E8-614782C5D21A}"/>
              </a:ext>
            </a:extLst>
          </p:cNvPr>
          <p:cNvSpPr/>
          <p:nvPr/>
        </p:nvSpPr>
        <p:spPr>
          <a:xfrm>
            <a:off x="629154" y="1573646"/>
            <a:ext cx="952500" cy="3619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stop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6A6B9A2-415D-688D-39A4-D6EA2903948F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2973032" y="4394200"/>
            <a:ext cx="0" cy="262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83EEB42-3427-D3F2-3E5D-2103B052994E}"/>
              </a:ext>
            </a:extLst>
          </p:cNvPr>
          <p:cNvCxnSpPr>
            <a:cxnSpLocks/>
          </p:cNvCxnSpPr>
          <p:nvPr/>
        </p:nvCxnSpPr>
        <p:spPr>
          <a:xfrm>
            <a:off x="1162549" y="4656387"/>
            <a:ext cx="38446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Picture 49">
            <a:extLst>
              <a:ext uri="{FF2B5EF4-FFF2-40B4-BE49-F238E27FC236}">
                <a16:creationId xmlns:a16="http://schemas.microsoft.com/office/drawing/2014/main" id="{7058B707-B153-2A68-BBCF-5EF4B16D2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973" y="6612345"/>
            <a:ext cx="3853006" cy="12193"/>
          </a:xfrm>
          <a:prstGeom prst="rect">
            <a:avLst/>
          </a:prstGeom>
          <a:solidFill>
            <a:schemeClr val="tx1"/>
          </a:solidFill>
        </p:spPr>
      </p:pic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C3A9E474-FB15-3310-B0EE-61743A8E0CEF}"/>
              </a:ext>
            </a:extLst>
          </p:cNvPr>
          <p:cNvCxnSpPr>
            <a:cxnSpLocks/>
            <a:endCxn id="20" idx="0"/>
          </p:cNvCxnSpPr>
          <p:nvPr/>
        </p:nvCxnSpPr>
        <p:spPr>
          <a:xfrm rot="5400000" flipH="1" flipV="1">
            <a:off x="3221540" y="552569"/>
            <a:ext cx="6218004" cy="6049447"/>
          </a:xfrm>
          <a:prstGeom prst="bentConnector5">
            <a:avLst>
              <a:gd name="adj1" fmla="val -1435"/>
              <a:gd name="adj2" fmla="val 61566"/>
              <a:gd name="adj3" fmla="val 10367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4" name="Picture 83">
            <a:extLst>
              <a:ext uri="{FF2B5EF4-FFF2-40B4-BE49-F238E27FC236}">
                <a16:creationId xmlns:a16="http://schemas.microsoft.com/office/drawing/2014/main" id="{16A033F1-394F-A610-0226-7E88149B5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3777" y="3087594"/>
            <a:ext cx="146603" cy="315760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68840843-1A63-B666-B2E1-A2B67F814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062151" y="4653601"/>
            <a:ext cx="197938" cy="333737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77A8CF8F-0F14-6536-2881-D67E77C32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1243" y="4665363"/>
            <a:ext cx="158510" cy="341406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54DF62BE-6F72-F465-891C-DBD245DAF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844" y="4636197"/>
            <a:ext cx="141481" cy="304728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A2EAAFFA-DEF9-03E8-6615-497AC68C6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5132" y="5559284"/>
            <a:ext cx="158510" cy="341406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ADEDC6BF-A8C6-4AD4-5244-794E91598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610" y="5520943"/>
            <a:ext cx="158510" cy="341406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A2B298E8-43ED-20BE-7168-3DA617ADA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3424" y="5546538"/>
            <a:ext cx="147736" cy="318200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910CF871-45A0-DC8A-8415-046A30C92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2176" y="1232240"/>
            <a:ext cx="158510" cy="341406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DAD5A1BB-5228-175C-3BCD-3F27165BB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7441" y="2302784"/>
            <a:ext cx="178757" cy="385015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243C3E96-0DF9-D694-C475-98E4AFEDD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2193" y="3339866"/>
            <a:ext cx="178757" cy="385015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444D76F7-40D4-6697-0856-790149539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718" y="6428744"/>
            <a:ext cx="181809" cy="259660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374987B2-9E00-DCFA-58BA-57A8E88A9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0398" y="6450076"/>
            <a:ext cx="122402" cy="263635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860150EE-D832-3DC0-AB41-1A86F0991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978" y="6388063"/>
            <a:ext cx="158421" cy="341214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89E36C16-DB50-7625-7FDE-CEDC9C040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592906" y="1573999"/>
            <a:ext cx="158510" cy="3414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47E6CF-C2A4-731B-18B2-9ADBC1ADFAB3}"/>
              </a:ext>
            </a:extLst>
          </p:cNvPr>
          <p:cNvSpPr txBox="1"/>
          <p:nvPr/>
        </p:nvSpPr>
        <p:spPr>
          <a:xfrm flipH="1">
            <a:off x="1581650" y="1445974"/>
            <a:ext cx="406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2691026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DCEC8-355E-24F7-5228-C187E6E5F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595" y="71120"/>
            <a:ext cx="10353761" cy="1326321"/>
          </a:xfrm>
        </p:spPr>
        <p:txBody>
          <a:bodyPr/>
          <a:lstStyle/>
          <a:p>
            <a:r>
              <a:rPr lang="en-IN" dirty="0"/>
              <a:t>Technologies Used in </a:t>
            </a:r>
            <a:r>
              <a:rPr lang="en-IN" dirty="0" err="1"/>
              <a:t>CampusCare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1E764-9BD6-BAD3-3BD2-A996C09ED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776" y="1046921"/>
            <a:ext cx="11207084" cy="5196399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sz="1900" b="1" dirty="0">
                <a:solidFill>
                  <a:srgbClr val="FFC000"/>
                </a:solidFill>
              </a:rPr>
              <a:t>1. Frontend (User Interface Layer)</a:t>
            </a:r>
          </a:p>
          <a:p>
            <a:r>
              <a:rPr lang="en-IN" b="1" dirty="0"/>
              <a:t>HTML5</a:t>
            </a:r>
            <a:r>
              <a:rPr lang="en-IN" dirty="0"/>
              <a:t> – Defines the structure of web pages.</a:t>
            </a:r>
          </a:p>
          <a:p>
            <a:r>
              <a:rPr lang="en-IN" b="1" dirty="0"/>
              <a:t>CSS3</a:t>
            </a:r>
            <a:r>
              <a:rPr lang="en-IN" dirty="0"/>
              <a:t> – Styles the pages for a clean and responsive look.</a:t>
            </a:r>
          </a:p>
          <a:p>
            <a:r>
              <a:rPr lang="en-IN" b="1" dirty="0"/>
              <a:t>Bootstrap</a:t>
            </a:r>
            <a:r>
              <a:rPr lang="en-IN" dirty="0"/>
              <a:t> – Makes the dashboard mobile-friendly and visually appealing.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 </a:t>
            </a:r>
            <a:r>
              <a:rPr lang="en-IN" sz="2100" b="1" dirty="0">
                <a:solidFill>
                  <a:srgbClr val="FFC000"/>
                </a:solidFill>
              </a:rPr>
              <a:t>2. Backend (Application Logic Layer)</a:t>
            </a:r>
          </a:p>
          <a:p>
            <a:r>
              <a:rPr lang="en-IN" b="1" dirty="0"/>
              <a:t>Python (Django Framework)</a:t>
            </a:r>
            <a:r>
              <a:rPr lang="en-IN" dirty="0"/>
              <a:t> – Handles server-side logic, routing, and authentication.</a:t>
            </a:r>
          </a:p>
          <a:p>
            <a:r>
              <a:rPr lang="en-IN" b="1" dirty="0"/>
              <a:t>Django Views &amp; Templates</a:t>
            </a:r>
            <a:r>
              <a:rPr lang="en-IN" dirty="0"/>
              <a:t> – Manage data flow between user interface and database.</a:t>
            </a:r>
          </a:p>
          <a:p>
            <a:r>
              <a:rPr lang="en-IN" b="1" dirty="0"/>
              <a:t>Django ORM (Object Relational Mapper)</a:t>
            </a:r>
            <a:r>
              <a:rPr lang="en-IN" dirty="0"/>
              <a:t> – Simplifies database interactions using Python objects.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 </a:t>
            </a:r>
            <a:r>
              <a:rPr lang="en-IN" sz="2100" b="1" dirty="0">
                <a:solidFill>
                  <a:srgbClr val="FFC000"/>
                </a:solidFill>
              </a:rPr>
              <a:t>3. Database (Data Storage Layer)</a:t>
            </a:r>
          </a:p>
          <a:p>
            <a:r>
              <a:rPr lang="en-IN" b="1" dirty="0"/>
              <a:t>SQLite Database</a:t>
            </a:r>
            <a:r>
              <a:rPr lang="en-IN" dirty="0"/>
              <a:t> – Stores student, teacher, health record, and doctor note data.</a:t>
            </a:r>
          </a:p>
          <a:p>
            <a:r>
              <a:rPr lang="en-IN" b="1" dirty="0"/>
              <a:t>Django Models</a:t>
            </a:r>
            <a:r>
              <a:rPr lang="en-IN" dirty="0"/>
              <a:t> – Represent and manage structured data in the database.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5177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382B3-2A62-527D-88A2-3A2D14D9B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898" y="2590366"/>
            <a:ext cx="10353761" cy="1326321"/>
          </a:xfrm>
        </p:spPr>
        <p:txBody>
          <a:bodyPr/>
          <a:lstStyle/>
          <a:p>
            <a:r>
              <a:rPr lang="en-IN" dirty="0"/>
              <a:t>PROTOTYPE DEMO</a:t>
            </a:r>
          </a:p>
        </p:txBody>
      </p:sp>
      <p:sp>
        <p:nvSpPr>
          <p:cNvPr id="4" name="Arrow: Notched Right 3">
            <a:extLst>
              <a:ext uri="{FF2B5EF4-FFF2-40B4-BE49-F238E27FC236}">
                <a16:creationId xmlns:a16="http://schemas.microsoft.com/office/drawing/2014/main" id="{0D1B3F2D-FF6A-7300-AB07-E3B9CB5A2CFD}"/>
              </a:ext>
            </a:extLst>
          </p:cNvPr>
          <p:cNvSpPr/>
          <p:nvPr/>
        </p:nvSpPr>
        <p:spPr>
          <a:xfrm>
            <a:off x="9928422" y="3011210"/>
            <a:ext cx="978408" cy="484632"/>
          </a:xfrm>
          <a:prstGeom prst="notched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2400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A0F1F0-724C-A1C4-4DDA-7547542C9A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341433"/>
            <a:ext cx="12192000" cy="6317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6090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251</TotalTime>
  <Words>369</Words>
  <Application>Microsoft Office PowerPoint</Application>
  <PresentationFormat>Widescreen</PresentationFormat>
  <Paragraphs>64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Bookman Old Style</vt:lpstr>
      <vt:lpstr>Calibri</vt:lpstr>
      <vt:lpstr>Rockwell</vt:lpstr>
      <vt:lpstr>Damask</vt:lpstr>
      <vt:lpstr>INTRODUCTION</vt:lpstr>
      <vt:lpstr>Problem  statement</vt:lpstr>
      <vt:lpstr>ER-DIAGRAM</vt:lpstr>
      <vt:lpstr>RelationAL DATABASE SCHEME</vt:lpstr>
      <vt:lpstr>                                  Campuscare</vt:lpstr>
      <vt:lpstr>System Flowchart</vt:lpstr>
      <vt:lpstr>Technologies Used in CampusCare </vt:lpstr>
      <vt:lpstr>PROTOTYPE DEMO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Yakshith K D</dc:creator>
  <cp:lastModifiedBy>Yakshith K D</cp:lastModifiedBy>
  <cp:revision>17</cp:revision>
  <dcterms:created xsi:type="dcterms:W3CDTF">2025-10-19T09:08:13Z</dcterms:created>
  <dcterms:modified xsi:type="dcterms:W3CDTF">2025-11-26T04:05:56Z</dcterms:modified>
</cp:coreProperties>
</file>